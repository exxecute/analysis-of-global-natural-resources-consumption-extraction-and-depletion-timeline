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Playfair Display"/>
      <p:regular r:id="rId42"/>
      <p:bold r:id="rId43"/>
      <p:italic r:id="rId44"/>
      <p:boldItalic r:id="rId45"/>
    </p:embeddedFont>
    <p:embeddedFont>
      <p:font typeface="Lat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PlayfairDisplay-regular.fntdata"/><Relationship Id="rId41" Type="http://schemas.openxmlformats.org/officeDocument/2006/relationships/slide" Target="slides/slide36.xml"/><Relationship Id="rId44" Type="http://schemas.openxmlformats.org/officeDocument/2006/relationships/font" Target="fonts/PlayfairDisplay-italic.fntdata"/><Relationship Id="rId43" Type="http://schemas.openxmlformats.org/officeDocument/2006/relationships/font" Target="fonts/PlayfairDisplay-bold.fntdata"/><Relationship Id="rId46" Type="http://schemas.openxmlformats.org/officeDocument/2006/relationships/font" Target="fonts/Lato-regular.fntdata"/><Relationship Id="rId45" Type="http://schemas.openxmlformats.org/officeDocument/2006/relationships/font" Target="fonts/PlayfairDispl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Lato-italic.fntdata"/><Relationship Id="rId47" Type="http://schemas.openxmlformats.org/officeDocument/2006/relationships/font" Target="fonts/Lato-bold.fntdata"/><Relationship Id="rId49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8b58015fc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8b58015fc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8b58015fc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8b58015fc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8b58015fc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8b58015fc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8b58015fc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8b58015fc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8b58015fc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8b58015fc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8b58015fc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8b58015fc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8b58015fc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8b58015fc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8b58015fc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8b58015fc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8b58015fc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8b58015fc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8b58015fc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8b58015fc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8b58015fc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8b58015fc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8b58015fc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8b58015fc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8b58015fc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8b58015fc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8b58015fc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8b58015fc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8b58015fc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8b58015fc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8b58015fc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8b58015fc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8b58015fc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8b58015fc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8b58015fc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8b58015fc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8b58015fc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8b58015fc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8b58015fc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8b58015fc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8b58015fc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8b58015fc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8b58015fc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b8b58015fc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8b58015fc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8b58015fc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8b58015fc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8b58015fc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8b58015fc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b8b58015fc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8b58015fc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8b58015fc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8b58015fc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b8b58015fc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8b58015fc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b8b58015fc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8b58015fc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b8b58015fc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8b58015fc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b8b58015fc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b8b58015fc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b8b58015fc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8b58015fc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b8b58015fc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8b58015fc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b8b58015fc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8b58015fc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b8b58015fc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8b58015fc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b8b58015fc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b8b58015fc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b8b58015fc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Analysis of global natural resources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(1900–2024)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Foreword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Where is the limit? Do we understand the real rate of resource depletion given current consumption growth?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Who controls the market? How statistically significant is the gap between the leaders (the US, China, Russia)?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Where are the risk zones? Which regions will be the first to face energy collapse due to import dependence?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265500" y="1635575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Data set selection</a:t>
            </a:r>
            <a:endParaRPr/>
          </a:p>
        </p:txBody>
      </p:sp>
      <p:sp>
        <p:nvSpPr>
          <p:cNvPr id="72" name="Google Shape;72;p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-</a:t>
            </a:r>
            <a:r>
              <a:rPr lang="ru"/>
              <a:t>Our World in Data (OWID)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- BP Energy Institute.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4114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country</a:t>
            </a:r>
            <a:endParaRPr/>
          </a:p>
          <a:p>
            <a:pPr indent="-4114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iso_code</a:t>
            </a:r>
            <a:endParaRPr/>
          </a:p>
          <a:p>
            <a:pPr indent="-4114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region</a:t>
            </a:r>
            <a:endParaRPr/>
          </a:p>
          <a:p>
            <a:pPr indent="-4114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year</a:t>
            </a:r>
            <a:endParaRPr/>
          </a:p>
          <a:p>
            <a:pPr indent="-4114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resource</a:t>
            </a:r>
            <a:endParaRPr/>
          </a:p>
          <a:p>
            <a:pPr indent="-4114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metric</a:t>
            </a:r>
            <a:endParaRPr/>
          </a:p>
          <a:p>
            <a:pPr indent="-4114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value</a:t>
            </a:r>
            <a:endParaRPr/>
          </a:p>
          <a:p>
            <a:pPr indent="-4114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unit</a:t>
            </a:r>
            <a:endParaRPr/>
          </a:p>
          <a:p>
            <a:pPr indent="-4114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/>
              <a:t>source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273350" y="1729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Information on the dataset</a:t>
            </a:r>
            <a:endParaRPr/>
          </a:p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80,639 observations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11 columns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265500" y="1729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Resources and metrics</a:t>
            </a:r>
            <a:endParaRPr/>
          </a:p>
        </p:txBody>
      </p:sp>
      <p:sp>
        <p:nvSpPr>
          <p:cNvPr id="89" name="Google Shape;89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- Four resources are used: Oil, Gas, Coal, CO2.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- Metrics: Production, Consumption, Emission.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- By number of observations: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- Production — 47,406 rows (≈59%),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- Consumption — 28,083 rows (≈35%),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- Emissions — 5,150 rows (≈6%).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- The resource with the highest number of observations is Oil (26,214 rows), and the lowest is CO2 (5,150).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273375" y="1729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Geography and regions</a:t>
            </a:r>
            <a:endParaRPr/>
          </a:p>
        </p:txBody>
      </p:sp>
      <p:sp>
        <p:nvSpPr>
          <p:cNvPr id="95" name="Google Shape;95;p1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- Data covers 217 countries, including regional aggregates.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- Major regions: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- Europe &amp; Central Asia — 26,803 observations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- East Asia &amp; Pacific — 13,875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- Latin America &amp; Caribbean — 13,157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- Middle East &amp; North Africa — 11,276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- Sub-Saharan Africa — 9,269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- South Asia — 3,797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- North America — 1,996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Time coverage</a:t>
            </a:r>
            <a:endParaRPr/>
          </a:p>
        </p:txBody>
      </p:sp>
      <p:sp>
        <p:nvSpPr>
          <p:cNvPr id="101" name="Google Shape;101;p2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- Data by year: 1900–2024.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- This allows for long-term analysis of historical trends in consumption, production, and emissions.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257625" y="16191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Preliminary conclusions</a:t>
            </a:r>
            <a:endParaRPr/>
          </a:p>
        </p:txBody>
      </p:sp>
      <p:sp>
        <p:nvSpPr>
          <p:cNvPr id="107" name="Google Shape;10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1. The dataset is qualitative.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2. There are few CO2 observations — this should be taken into account when analyzing emissions.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3. Most of the data is concentrated in Europe, Asia, and Latin America; North America is less represented.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Analytical report on energy consumption data visualization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Exploratory data analysis (EDA)</a:t>
            </a:r>
            <a:endParaRPr/>
          </a:p>
        </p:txBody>
      </p:sp>
      <p:pic>
        <p:nvPicPr>
          <p:cNvPr id="118" name="Google Shape;118;p23" title="count_by_resour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25" y="0"/>
            <a:ext cx="8648175" cy="4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Geography </a:t>
            </a:r>
            <a:endParaRPr/>
          </a:p>
        </p:txBody>
      </p:sp>
      <p:pic>
        <p:nvPicPr>
          <p:cNvPr id="124" name="Google Shape;124;p24" title="count_by_reg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860524" cy="44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Value distribution analysis</a:t>
            </a:r>
            <a:endParaRPr/>
          </a:p>
        </p:txBody>
      </p:sp>
      <p:pic>
        <p:nvPicPr>
          <p:cNvPr id="130" name="Google Shape;130;p25" title="value_distribution_by_resour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25" y="0"/>
            <a:ext cx="8718951" cy="43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Historical trends: Oil consumption (1965–2024)</a:t>
            </a:r>
            <a:endParaRPr/>
          </a:p>
        </p:txBody>
      </p:sp>
      <p:pic>
        <p:nvPicPr>
          <p:cNvPr id="136" name="Google Shape;136;p26" title="oil_consumption_tre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750" y="0"/>
            <a:ext cx="8824500" cy="4412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Report on testing statistical hypotheses in the energy sector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311700" y="1233100"/>
            <a:ext cx="8520600" cy="20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Regional differences</a:t>
            </a:r>
            <a:endParaRPr/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311700" y="3352025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p-value = 0.000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Gas Consumption</a:t>
            </a:r>
            <a:endParaRPr/>
          </a:p>
        </p:txBody>
      </p:sp>
      <p:pic>
        <p:nvPicPr>
          <p:cNvPr id="153" name="Google Shape;153;p29" title="Gas_Consumption_anova_reg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200" y="-47175"/>
            <a:ext cx="7345600" cy="440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Gas production</a:t>
            </a:r>
            <a:endParaRPr/>
          </a:p>
        </p:txBody>
      </p:sp>
      <p:pic>
        <p:nvPicPr>
          <p:cNvPr id="159" name="Google Shape;159;p30" title="Gas_Production_anova_reg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1000" y="0"/>
            <a:ext cx="7331175" cy="439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Coal</a:t>
            </a:r>
            <a:endParaRPr/>
          </a:p>
        </p:txBody>
      </p:sp>
      <p:pic>
        <p:nvPicPr>
          <p:cNvPr id="165" name="Google Shape;165;p31" title="Coal_Consumption_anova_reg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692600" cy="281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1" title="Coal_Production_anova_region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1400" y="2327926"/>
            <a:ext cx="4692600" cy="281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CO2 emissions</a:t>
            </a:r>
            <a:endParaRPr/>
          </a:p>
        </p:txBody>
      </p:sp>
      <p:pic>
        <p:nvPicPr>
          <p:cNvPr id="172" name="Google Shape;172;p32" title="CO2_Emissions_anova_reg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063" y="0"/>
            <a:ext cx="7329875" cy="439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Comparison of market leaders (T-tests)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Coal industry (China vs USA)</a:t>
            </a:r>
            <a:endParaRPr/>
          </a:p>
        </p:txBody>
      </p:sp>
      <p:pic>
        <p:nvPicPr>
          <p:cNvPr id="183" name="Google Shape;183;p34" title="Coal_Consumption_t_test_top_countri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4900" y="0"/>
            <a:ext cx="6614201" cy="44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Gas industry (Russia vs USA)</a:t>
            </a:r>
            <a:endParaRPr/>
          </a:p>
        </p:txBody>
      </p:sp>
      <p:pic>
        <p:nvPicPr>
          <p:cNvPr id="189" name="Google Shape;189;p35" title="Gas_Consumption_t_test_top_countri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3262" y="0"/>
            <a:ext cx="6577474" cy="438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Emissions (China vs. USA)</a:t>
            </a:r>
            <a:endParaRPr/>
          </a:p>
        </p:txBody>
      </p:sp>
      <p:pic>
        <p:nvPicPr>
          <p:cNvPr id="195" name="Google Shape;195;p36" title="CO2_Emissions_t_test_top_countri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763" y="0"/>
            <a:ext cx="6598474" cy="439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7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Oil industry</a:t>
            </a:r>
            <a:endParaRPr/>
          </a:p>
        </p:txBody>
      </p:sp>
      <p:pic>
        <p:nvPicPr>
          <p:cNvPr id="201" name="Google Shape;201;p37" title="Oil_Consumption_anova_reg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0" cy="274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7" title="Oil_Production_anova_region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7075" y="2202100"/>
            <a:ext cx="4883275" cy="292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Comparison of leaders (T-tests)</a:t>
            </a:r>
            <a:endParaRPr/>
          </a:p>
        </p:txBody>
      </p:sp>
      <p:pic>
        <p:nvPicPr>
          <p:cNvPr id="208" name="Google Shape;208;p38" title="Oil_Consumption_t_test_top_countri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8" title="Oil_Production_t_test_top_countri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0"/>
            <a:ext cx="4572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Final conclusion on the hypotheses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Multivariate data analysis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1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Principal component analysis </a:t>
            </a:r>
            <a:endParaRPr/>
          </a:p>
        </p:txBody>
      </p:sp>
      <p:sp>
        <p:nvSpPr>
          <p:cNvPr id="225" name="Google Shape;225;p41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(PCA)</a:t>
            </a:r>
            <a:endParaRPr/>
          </a:p>
        </p:txBody>
      </p:sp>
      <p:sp>
        <p:nvSpPr>
          <p:cNvPr id="226" name="Google Shape;226;p4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Explained variance: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PC1 - Scale axis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PC2 - Structure axis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The majority of countries</a:t>
            </a:r>
            <a:endParaRPr/>
          </a:p>
        </p:txBody>
      </p:sp>
      <p:pic>
        <p:nvPicPr>
          <p:cNvPr id="232" name="Google Shape;232;p42" title="pca_ma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738" y="0"/>
            <a:ext cx="6362527" cy="4395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3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Outliners</a:t>
            </a:r>
            <a:endParaRPr/>
          </a:p>
        </p:txBody>
      </p:sp>
      <p:pic>
        <p:nvPicPr>
          <p:cNvPr id="238" name="Google Shape;238;p43" title="pca_outlie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6700" y="0"/>
            <a:ext cx="6590602" cy="441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4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K-Means Clustering</a:t>
            </a:r>
            <a:endParaRPr/>
          </a:p>
        </p:txBody>
      </p:sp>
      <p:pic>
        <p:nvPicPr>
          <p:cNvPr id="244" name="Google Shape;244;p44" title="pca_kmea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825" y="0"/>
            <a:ext cx="6584351" cy="438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5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Key findings of multidimensional analysis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Forecast of energy sustainability and depletion risks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7"/>
          <p:cNvSpPr txBox="1"/>
          <p:nvPr>
            <p:ph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Depletion Risk Index (DRI)</a:t>
            </a:r>
            <a:endParaRPr/>
          </a:p>
        </p:txBody>
      </p:sp>
      <p:sp>
        <p:nvSpPr>
          <p:cNvPr id="260" name="Google Shape;260;p47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DRI = Consumption - Production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8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Regional risk analysis</a:t>
            </a:r>
            <a:endParaRPr/>
          </a:p>
        </p:txBody>
      </p:sp>
      <p:pic>
        <p:nvPicPr>
          <p:cNvPr id="266" name="Google Shape;266;p48" title="depletion_risk_inde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050" y="0"/>
            <a:ext cx="8839900" cy="441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